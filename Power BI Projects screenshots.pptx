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9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C1AE273-39C2-8DE1-E6FA-5925B6777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12DA1E6-4262-B962-E8B7-7EA563569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FA5C4E2-4977-D556-E792-9A847555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605573-AA4C-9BF1-911B-6BA5D8B7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69324FA-B2E6-B3C3-52BC-232C6FB8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1238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8CEC57-2BB4-454F-50ED-33CD75B1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A225914-0847-DE68-737F-ADC8B89C3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57B6F8F-8CF1-D4DA-B8F5-E1291B12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95A7E10-1ACE-B395-1BE6-032FD91A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A6DCFA8-8394-3F8D-082B-A557EF2A9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2417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CAA920-428B-4CFA-ED9A-C3C4E4E08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906E5B7-A2F2-3822-880B-C7B1C7EF3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923F76C-E497-6C21-733B-8467ED3D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596F50C-C322-61F9-4B5F-475D01FC8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4F2FE4E-A427-DEFB-15BC-F51C7370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517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CEBF6F3-67C3-6760-B6CF-47D6B33A5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D5A4F2B-EC34-35FF-3DB3-2C67D5234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E22DF36-1712-1EB4-E6A8-B43496A87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DBE5773-762E-F353-9991-F841F07F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B4F6F58-CEBC-C6E8-6770-B6377D022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2C0BFDD-E317-633E-EFA9-2E3647FC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492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3AED74-E837-B97D-104C-6FF3934B7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C78C941-4CE1-4A66-597B-4BBD74DBF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67D173A-924D-AF12-E0B2-302B9BE4E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4FDB16C-180B-5A54-503B-A2730C1C3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4295CDB-FEED-7F82-00C2-5FF1779AA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08871CEA-3D7A-03CB-8C09-5CF8CAA41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9E0A4A3-B9A5-C138-A4E7-26392624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DAC89900-055A-2D03-E09E-D2E7ED27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158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6F7C24-44A6-8615-50C6-4D7666ED4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D28F8A9-E634-E15E-BCF5-D094C9A6D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FFC4A8A-1A9D-3961-85C5-B1B773555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C1CBC58-7A0E-3A9E-E255-A0BFA28B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920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34863A4-24DC-C2BB-6310-C3D8C42D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9CADFB3-019A-A654-9F43-6A54F4E2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9857286-1473-B40A-D73B-ED5B834C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301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5B9FF02-B2E3-16A9-9CD7-F942D5F9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FEF1F0-1F4C-A944-F600-4F768F69D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B29C2D0-8915-670F-C60F-79F9510D6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3A388A1-0EE7-EA8F-708D-04124B8CE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0B60F35-E73C-3B46-DD1F-B7C0B532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5B9E8EF-BF65-EE1E-B004-6BB57B14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197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6CD1A1-9CAA-4549-1F05-78219130D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1622F0D-5D2F-9DD5-64C7-B62236A1B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3485F8F-7C37-41B5-B1A8-5011F1828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D0AE782-E5EC-ECB9-9BA0-27E4DC59C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4638F06-8584-2AE0-5EB4-83791A1E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144785E-0E43-1CC2-A7D6-1EB27A3B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823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43B2F1-19D1-8C2C-8D65-F131FF7E9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2A30B8D-95DC-7E53-7ED7-8BB976F56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108D7C1-BB67-8CF4-C0BA-26417CB0F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535C11B-2463-41DF-778F-404037A2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B2049CA-0822-9DB0-5AA8-933E2B9A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8390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DA25673F-3932-E488-6FFF-4770A8650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BE6ADCF-14F3-4D6E-1EE0-6AE896C68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A6A2F77-4F00-63B5-8799-76F2564AD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E1CC702-E38B-C95F-A4D7-830B87224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400989A-F4D0-54D7-7CDA-A2BC62CF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1843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5B09BCD-6137-9260-81ED-131AB97C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A3D5C88-0E8F-7F62-C4D9-343CBC037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5F2AB2C-24A4-A202-A9B0-50792E025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6965D-7F42-4F46-B7C5-B4FAB42DBF6D}" type="datetimeFigureOut">
              <a:rPr lang="he-IL" smtClean="0"/>
              <a:t>כ"ז/ניסן/תשפ"ו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332D662-2EB3-23FB-94BD-8193EB5C4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62F42EB-DD94-343D-05D7-BB285A956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55AEF-7711-4734-9F90-D7482A50844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307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B267DE6-99FE-4EF8-CBF2-8257C0D4A50C}"/>
              </a:ext>
            </a:extLst>
          </p:cNvPr>
          <p:cNvSpPr txBox="1"/>
          <p:nvPr/>
        </p:nvSpPr>
        <p:spPr>
          <a:xfrm>
            <a:off x="801324" y="157316"/>
            <a:ext cx="11100619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he-IL" sz="2400" dirty="0">
                <a:effectLst/>
                <a:latin typeface="Arial" panose="020B0604020202020204" pitchFamily="34" charset="0"/>
              </a:rPr>
              <a:t> </a:t>
            </a:r>
            <a:r>
              <a:rPr lang="he-IL" sz="2400" b="1" u="sng" dirty="0">
                <a:effectLst/>
                <a:latin typeface="Arial" panose="020B0604020202020204" pitchFamily="34" charset="0"/>
              </a:rPr>
              <a:t>פרויקט</a:t>
            </a:r>
            <a:r>
              <a:rPr lang="en-US" sz="2400" b="1" u="sng" dirty="0">
                <a:effectLst/>
              </a:rPr>
              <a:t>Power</a:t>
            </a:r>
            <a:r>
              <a:rPr lang="en-US" sz="2400" b="1" u="sng" dirty="0">
                <a:effectLst/>
                <a:latin typeface="Arial" panose="020B0604020202020204" pitchFamily="34" charset="0"/>
              </a:rPr>
              <a:t> </a:t>
            </a:r>
            <a:r>
              <a:rPr lang="en-US" sz="2400" b="1" u="sng" dirty="0">
                <a:effectLst/>
              </a:rPr>
              <a:t>BI</a:t>
            </a:r>
            <a:r>
              <a:rPr lang="en-US" sz="2400" u="sng" dirty="0">
                <a:effectLst/>
                <a:latin typeface="Arial" panose="020B0604020202020204" pitchFamily="34" charset="0"/>
              </a:rPr>
              <a:t> </a:t>
            </a:r>
            <a:endParaRPr lang="en-US" sz="1400" u="sng" dirty="0"/>
          </a:p>
          <a:p>
            <a:pPr algn="just">
              <a:buNone/>
            </a:pPr>
            <a:br>
              <a:rPr lang="en-US" sz="1400" u="sng" dirty="0">
                <a:effectLst/>
                <a:latin typeface="Arial" panose="020B0604020202020204" pitchFamily="34" charset="0"/>
              </a:rPr>
            </a:br>
            <a:r>
              <a:rPr lang="he-IL" sz="1400" u="sng" dirty="0">
                <a:effectLst/>
                <a:latin typeface="Arial" panose="020B0604020202020204" pitchFamily="34" charset="0"/>
              </a:rPr>
              <a:t>שאלת המחקר:</a:t>
            </a:r>
            <a:r>
              <a:rPr lang="he-IL" sz="1400" dirty="0">
                <a:effectLst/>
                <a:latin typeface="Arial" panose="020B0604020202020204" pitchFamily="34" charset="0"/>
              </a:rPr>
              <a:t> אלו גורמים משפיעים על הצלחת הסטודנטים?</a:t>
            </a:r>
            <a:endParaRPr lang="he-IL" sz="1400" dirty="0"/>
          </a:p>
          <a:p>
            <a:pPr algn="just">
              <a:buNone/>
            </a:pPr>
            <a:br>
              <a:rPr lang="en-US" sz="1400" u="sng" dirty="0">
                <a:effectLst/>
                <a:latin typeface="Arial" panose="020B0604020202020204" pitchFamily="34" charset="0"/>
              </a:rPr>
            </a:br>
            <a:r>
              <a:rPr lang="he-IL" sz="1400" u="sng" dirty="0">
                <a:effectLst/>
                <a:latin typeface="Arial" panose="020B0604020202020204" pitchFamily="34" charset="0"/>
              </a:rPr>
              <a:t>שלבי העבודה:</a:t>
            </a:r>
            <a:endParaRPr lang="he-IL" sz="1400" dirty="0"/>
          </a:p>
          <a:p>
            <a:pPr algn="just">
              <a:buNone/>
            </a:pPr>
            <a:r>
              <a:rPr lang="he-IL" sz="1400" dirty="0">
                <a:effectLst/>
                <a:latin typeface="Arial" panose="020B0604020202020204" pitchFamily="34" charset="0"/>
              </a:rPr>
              <a:t>1) </a:t>
            </a:r>
            <a:r>
              <a:rPr lang="he-IL" sz="1400" b="1" dirty="0">
                <a:effectLst/>
                <a:latin typeface="Arial" panose="020B0604020202020204" pitchFamily="34" charset="0"/>
              </a:rPr>
              <a:t>ייבוא וטיוב הנתונים:</a:t>
            </a:r>
            <a:endParaRPr lang="he-IL" sz="1400" dirty="0"/>
          </a:p>
          <a:p>
            <a:pPr algn="just">
              <a:buNone/>
            </a:pPr>
            <a:r>
              <a:rPr lang="he-IL" sz="1400" dirty="0">
                <a:effectLst/>
                <a:latin typeface="Arial" panose="020B0604020202020204" pitchFamily="34" charset="0"/>
              </a:rPr>
              <a:t>כולל - יצירת 4 טבלאות. ייבאתי שתיים, מהן יצרתי </a:t>
            </a:r>
            <a:r>
              <a:rPr lang="he-IL" sz="1400" dirty="0" err="1">
                <a:effectLst/>
                <a:latin typeface="Arial" panose="020B0604020202020204" pitchFamily="34" charset="0"/>
              </a:rPr>
              <a:t>טבלא</a:t>
            </a:r>
            <a:r>
              <a:rPr lang="he-IL" sz="1400" dirty="0">
                <a:effectLst/>
                <a:latin typeface="Arial" panose="020B0604020202020204" pitchFamily="34" charset="0"/>
              </a:rPr>
              <a:t> אחת מאוחדת שתכיל נתונים על כל הסטודנטים, </a:t>
            </a:r>
            <a:r>
              <a:rPr lang="he-IL" sz="1400" dirty="0" err="1">
                <a:effectLst/>
                <a:latin typeface="Arial" panose="020B0604020202020204" pitchFamily="34" charset="0"/>
              </a:rPr>
              <a:t>וטבלא</a:t>
            </a:r>
            <a:r>
              <a:rPr lang="he-IL" sz="1400" dirty="0">
                <a:effectLst/>
                <a:latin typeface="Arial" panose="020B0604020202020204" pitchFamily="34" charset="0"/>
              </a:rPr>
              <a:t> נוספת בה סיננתי רק את הסטודנטים שאני רוצה</a:t>
            </a:r>
            <a:br>
              <a:rPr lang="en-US" sz="1400" dirty="0">
                <a:effectLst/>
                <a:latin typeface="Arial" panose="020B0604020202020204" pitchFamily="34" charset="0"/>
              </a:rPr>
            </a:br>
            <a:r>
              <a:rPr lang="he-IL" sz="1400" dirty="0">
                <a:effectLst/>
                <a:latin typeface="Arial" panose="020B0604020202020204" pitchFamily="34" charset="0"/>
              </a:rPr>
              <a:t>להתמקד בהם במחקר הזה. </a:t>
            </a:r>
            <a:r>
              <a:rPr lang="he-IL" sz="1400" dirty="0" err="1">
                <a:effectLst/>
                <a:latin typeface="Arial" panose="020B0604020202020204" pitchFamily="34" charset="0"/>
              </a:rPr>
              <a:t>בטבלא</a:t>
            </a:r>
            <a:r>
              <a:rPr lang="he-IL" sz="1400" dirty="0">
                <a:effectLst/>
                <a:latin typeface="Arial" panose="020B0604020202020204" pitchFamily="34" charset="0"/>
              </a:rPr>
              <a:t> הממוקדת נמצאים רק הסטודנטים שביצעו פעם ראשונה את הקורס, (בהם בעיקר מתמקד המחקר) ואת שתי טבלאות המקור קישרתי אליה כדי לקבל עליהם נתונים נוספים. </a:t>
            </a:r>
            <a:endParaRPr lang="he-IL" sz="1400" dirty="0"/>
          </a:p>
          <a:p>
            <a:pPr>
              <a:buNone/>
            </a:pPr>
            <a:r>
              <a:rPr lang="he-IL" sz="1400" dirty="0">
                <a:effectLst/>
                <a:latin typeface="Arial" panose="020B0604020202020204" pitchFamily="34" charset="0"/>
              </a:rPr>
              <a:t>בקיצור – מודל הנתונים שלי מכיל </a:t>
            </a:r>
            <a:r>
              <a:rPr lang="he-IL" sz="1400" dirty="0" err="1">
                <a:effectLst/>
                <a:latin typeface="Arial" panose="020B0604020202020204" pitchFamily="34" charset="0"/>
              </a:rPr>
              <a:t>טבלא</a:t>
            </a:r>
            <a:r>
              <a:rPr lang="he-IL" sz="1400" dirty="0">
                <a:effectLst/>
                <a:latin typeface="Arial" panose="020B0604020202020204" pitchFamily="34" charset="0"/>
              </a:rPr>
              <a:t> אחת נפרדת עם נתונים על כלל הסטודנטים, ועוד שלוש טבלאות מקושרות עם נתונים על סטודנטים מתחילים. </a:t>
            </a:r>
          </a:p>
          <a:p>
            <a:pPr algn="just">
              <a:buNone/>
            </a:pPr>
            <a:endParaRPr lang="he-IL" sz="1400" dirty="0"/>
          </a:p>
          <a:p>
            <a:pPr algn="just">
              <a:buNone/>
            </a:pPr>
            <a:r>
              <a:rPr lang="he-IL" sz="1400" u="sng" dirty="0">
                <a:effectLst/>
                <a:latin typeface="Arial" panose="020B0604020202020204" pitchFamily="34" charset="0"/>
              </a:rPr>
              <a:t>2) תהליך המחקר:</a:t>
            </a:r>
            <a:endParaRPr lang="he-IL" sz="1400" dirty="0"/>
          </a:p>
          <a:p>
            <a:pPr algn="just">
              <a:buNone/>
            </a:pPr>
            <a:r>
              <a:rPr lang="he-IL" sz="1400" dirty="0">
                <a:effectLst/>
                <a:latin typeface="Arial" panose="020B0604020202020204" pitchFamily="34" charset="0"/>
              </a:rPr>
              <a:t>אחוז הסטודנטים שהצליחו לעבור את הקורס משתנה בין המודלים השונים. רציתי לבחון האם ישנם פרמטרים שמשפיעים או קשורים בדרך אחרת להצלחה </a:t>
            </a:r>
            <a:br>
              <a:rPr lang="en-US" sz="1400" dirty="0">
                <a:effectLst/>
                <a:latin typeface="Arial" panose="020B0604020202020204" pitchFamily="34" charset="0"/>
              </a:rPr>
            </a:br>
            <a:r>
              <a:rPr lang="he-IL" sz="1400" dirty="0">
                <a:effectLst/>
                <a:latin typeface="Arial" panose="020B0604020202020204" pitchFamily="34" charset="0"/>
              </a:rPr>
              <a:t>הכיתתית?</a:t>
            </a:r>
            <a:endParaRPr lang="he-IL" sz="1400" dirty="0"/>
          </a:p>
          <a:p>
            <a:pPr algn="just">
              <a:buNone/>
            </a:pPr>
            <a:r>
              <a:rPr lang="he-IL" sz="1400" dirty="0">
                <a:effectLst/>
                <a:latin typeface="Arial" panose="020B0604020202020204" pitchFamily="34" charset="0"/>
              </a:rPr>
              <a:t>על כן, בכל עמוד התמקדתי במאפיין אחד, במטרה לבחון האם יש קשר בין אחוז הסטודנטים בעלי מאפיין זה, לבין אחוז הסטודנטים שהצליחו באותו הקורס?</a:t>
            </a:r>
            <a:endParaRPr lang="he-IL" sz="1400" dirty="0"/>
          </a:p>
          <a:p>
            <a:pPr algn="just">
              <a:buNone/>
            </a:pPr>
            <a:r>
              <a:rPr lang="he-IL" sz="1400" dirty="0">
                <a:effectLst/>
                <a:latin typeface="Arial" panose="020B0604020202020204" pitchFamily="34" charset="0"/>
              </a:rPr>
              <a:t>כל עמוד מחולק לשני חלקים: </a:t>
            </a:r>
            <a:r>
              <a:rPr lang="he-IL" sz="1400" b="1" dirty="0">
                <a:effectLst/>
                <a:latin typeface="Arial" panose="020B0604020202020204" pitchFamily="34" charset="0"/>
              </a:rPr>
              <a:t>בצד שמאל</a:t>
            </a:r>
            <a:r>
              <a:rPr lang="he-IL" sz="1400" dirty="0">
                <a:effectLst/>
                <a:latin typeface="Arial" panose="020B0604020202020204" pitchFamily="34" charset="0"/>
              </a:rPr>
              <a:t> בחנתי האם בכלל יש קשר בין המאפיין הזה להצלחה לימודית? לצורך כך חקרתי את </a:t>
            </a:r>
            <a:r>
              <a:rPr lang="he-IL" sz="1400" dirty="0" err="1">
                <a:effectLst/>
                <a:latin typeface="Arial" panose="020B0604020202020204" pitchFamily="34" charset="0"/>
              </a:rPr>
              <a:t>הטבלא</a:t>
            </a:r>
            <a:r>
              <a:rPr lang="he-IL" sz="1400" dirty="0">
                <a:effectLst/>
                <a:latin typeface="Arial" panose="020B0604020202020204" pitchFamily="34" charset="0"/>
              </a:rPr>
              <a:t> הכוללת של כלל </a:t>
            </a:r>
            <a:br>
              <a:rPr lang="en-US" sz="1400" dirty="0">
                <a:effectLst/>
                <a:latin typeface="Arial" panose="020B0604020202020204" pitchFamily="34" charset="0"/>
              </a:rPr>
            </a:br>
            <a:r>
              <a:rPr lang="he-IL" sz="1400" dirty="0">
                <a:effectLst/>
                <a:latin typeface="Arial" panose="020B0604020202020204" pitchFamily="34" charset="0"/>
              </a:rPr>
              <a:t>הסטודנטים. (התוצאות מוצגות ב </a:t>
            </a:r>
            <a:r>
              <a:rPr lang="en-US" sz="1400" dirty="0">
                <a:effectLst/>
                <a:latin typeface="Arial" panose="020B0604020202020204" pitchFamily="34" charset="0"/>
              </a:rPr>
              <a:t>gouge</a:t>
            </a:r>
            <a:r>
              <a:rPr lang="he-IL" sz="1400" dirty="0">
                <a:effectLst/>
                <a:latin typeface="Arial" panose="020B0604020202020204" pitchFamily="34" charset="0"/>
              </a:rPr>
              <a:t>)</a:t>
            </a:r>
            <a:endParaRPr lang="en-US" sz="1400" dirty="0"/>
          </a:p>
          <a:p>
            <a:pPr algn="just">
              <a:buNone/>
            </a:pPr>
            <a:r>
              <a:rPr lang="he-IL" sz="1400" b="1" dirty="0">
                <a:effectLst/>
                <a:latin typeface="Arial" panose="020B0604020202020204" pitchFamily="34" charset="0"/>
              </a:rPr>
              <a:t>בצד ימין</a:t>
            </a:r>
            <a:r>
              <a:rPr lang="he-IL" sz="1400" dirty="0">
                <a:effectLst/>
                <a:latin typeface="Arial" panose="020B0604020202020204" pitchFamily="34" charset="0"/>
              </a:rPr>
              <a:t> ישנו גרף משולב (</a:t>
            </a:r>
            <a:r>
              <a:rPr lang="en-US" sz="1400" dirty="0" err="1">
                <a:effectLst/>
              </a:rPr>
              <a:t>Column%Line</a:t>
            </a:r>
            <a:r>
              <a:rPr lang="he-IL" sz="1400" dirty="0">
                <a:effectLst/>
                <a:latin typeface="Arial" panose="020B0604020202020204" pitchFamily="34" charset="0"/>
              </a:rPr>
              <a:t>)שבוחן יש קשר בין כמות הסטודנטים בעלי מאפיין זה בכל קורס, לבין אחוז הסטודנטים שעברו קורס זה? גרף זה</a:t>
            </a:r>
            <a:br>
              <a:rPr lang="en-US" sz="1400" dirty="0">
                <a:effectLst/>
                <a:latin typeface="Arial" panose="020B0604020202020204" pitchFamily="34" charset="0"/>
              </a:rPr>
            </a:br>
            <a:r>
              <a:rPr lang="he-IL" sz="1400" dirty="0">
                <a:effectLst/>
                <a:latin typeface="Arial" panose="020B0604020202020204" pitchFamily="34" charset="0"/>
              </a:rPr>
              <a:t>כמובן מבוסס על נתוני הסטודנטים שבצעו פעם ראשונה את הקורס.</a:t>
            </a:r>
            <a:endParaRPr lang="he-IL" sz="1400" dirty="0"/>
          </a:p>
          <a:p>
            <a:pPr algn="just">
              <a:buNone/>
            </a:pPr>
            <a:r>
              <a:rPr lang="he-IL" sz="1400" dirty="0">
                <a:effectLst/>
                <a:latin typeface="Arial" panose="020B0604020202020204" pitchFamily="34" charset="0"/>
              </a:rPr>
              <a:t>כך בחנתי ארבעה פרמטרים: 1) מגדר הסטודנטים (זכר/נקבה), 2) מדד </a:t>
            </a:r>
            <a:r>
              <a:rPr lang="en-US" sz="1400" dirty="0">
                <a:effectLst/>
              </a:rPr>
              <a:t>IMD</a:t>
            </a:r>
            <a:r>
              <a:rPr lang="en-US" sz="1400" dirty="0">
                <a:effectLst/>
                <a:latin typeface="Arial" panose="020B0604020202020204" pitchFamily="34" charset="0"/>
              </a:rPr>
              <a:t> </a:t>
            </a:r>
            <a:r>
              <a:rPr lang="he-IL" sz="1400" dirty="0">
                <a:effectLst/>
                <a:latin typeface="Arial" panose="020B0604020202020204" pitchFamily="34" charset="0"/>
              </a:rPr>
              <a:t> (המצב הסוציו</a:t>
            </a:r>
            <a:r>
              <a:rPr lang="he-IL" sz="1400" dirty="0">
                <a:latin typeface="Arial" panose="020B0604020202020204" pitchFamily="34" charset="0"/>
              </a:rPr>
              <a:t>-</a:t>
            </a:r>
            <a:r>
              <a:rPr lang="he-IL" sz="1400" dirty="0">
                <a:effectLst/>
                <a:latin typeface="Arial" panose="020B0604020202020204" pitchFamily="34" charset="0"/>
              </a:rPr>
              <a:t>אקונומי של הסטודנטים)</a:t>
            </a:r>
            <a:r>
              <a:rPr lang="he-IL" sz="1400" dirty="0">
                <a:latin typeface="Arial" panose="020B0604020202020204" pitchFamily="34" charset="0"/>
              </a:rPr>
              <a:t> )</a:t>
            </a:r>
            <a:r>
              <a:rPr lang="he-IL" sz="1400" dirty="0">
                <a:effectLst/>
                <a:latin typeface="Arial" panose="020B0604020202020204" pitchFamily="34" charset="0"/>
              </a:rPr>
              <a:t> 3)  אזור מגוריהם, 4) האם סטודנטים שמתוכננים מראש ונרשמו מוקדם לקורס גם מצליחים יותר?</a:t>
            </a:r>
          </a:p>
          <a:p>
            <a:pPr algn="just">
              <a:buNone/>
            </a:pPr>
            <a:endParaRPr lang="he-IL" sz="1400" dirty="0"/>
          </a:p>
          <a:p>
            <a:pPr algn="just">
              <a:buNone/>
            </a:pPr>
            <a:r>
              <a:rPr lang="he-IL" sz="1400" u="sng" dirty="0">
                <a:effectLst/>
                <a:latin typeface="Arial" panose="020B0604020202020204" pitchFamily="34" charset="0"/>
              </a:rPr>
              <a:t>3) מסקנות המחקר:</a:t>
            </a:r>
            <a:endParaRPr lang="he-IL" sz="1400" dirty="0"/>
          </a:p>
          <a:p>
            <a:pPr algn="just">
              <a:buNone/>
            </a:pPr>
            <a:r>
              <a:rPr lang="he-IL" sz="1400" dirty="0">
                <a:effectLst/>
                <a:latin typeface="Arial" panose="020B0604020202020204" pitchFamily="34" charset="0"/>
              </a:rPr>
              <a:t>לא מצאתי מאפיין מסוים עם קורלציה (הדדיות) טובה לשיעור ההצלחה בקורסים. (היחיד שהיה קצת דומה היה אזור המגורים, אך ודאי שאי אפשר להסביר באמצעותו את כל הפערים בין הקורסים).</a:t>
            </a:r>
            <a:endParaRPr lang="he-IL" sz="1400" dirty="0"/>
          </a:p>
          <a:p>
            <a:pPr algn="just">
              <a:buNone/>
            </a:pPr>
            <a:r>
              <a:rPr lang="he-IL" sz="1400" dirty="0">
                <a:effectLst/>
                <a:latin typeface="Arial" panose="020B0604020202020204" pitchFamily="34" charset="0"/>
              </a:rPr>
              <a:t>ואם כן ישנן שתי אפשרויות:</a:t>
            </a:r>
            <a:endParaRPr lang="he-IL" sz="1400" dirty="0"/>
          </a:p>
          <a:p>
            <a:pPr algn="just">
              <a:buNone/>
            </a:pPr>
            <a:r>
              <a:rPr lang="he-IL" sz="1400" dirty="0">
                <a:effectLst/>
                <a:latin typeface="Arial" panose="020B0604020202020204" pitchFamily="34" charset="0"/>
              </a:rPr>
              <a:t> א. יש מאפיין אחר שהוא המשפיע באופן משמעותי על ההצלחה, וצריך להמשיך לחפש אחריו. (או שמא זה שילוב של כמה פרמטרים).</a:t>
            </a:r>
            <a:endParaRPr lang="he-IL" sz="1400" dirty="0"/>
          </a:p>
          <a:p>
            <a:pPr algn="just">
              <a:buNone/>
            </a:pPr>
            <a:r>
              <a:rPr lang="he-IL" sz="1400" dirty="0">
                <a:effectLst/>
                <a:latin typeface="Arial" panose="020B0604020202020204" pitchFamily="34" charset="0"/>
              </a:rPr>
              <a:t>ב. באמת הכל תלוי בסטודנטים עצמם! אין מאפיינים חיצוניים שניתן לתלות בהם את ההצלחה או הכישלון.</a:t>
            </a: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2172541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42F7B24E-BEF6-5E28-4797-6BC03D561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" y="0"/>
            <a:ext cx="121646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5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‫סמן העכבר מעוקל | Public domain vectors‬‎">
            <a:extLst>
              <a:ext uri="{FF2B5EF4-FFF2-40B4-BE49-F238E27FC236}">
                <a16:creationId xmlns:a16="http://schemas.microsoft.com/office/drawing/2014/main" id="{590D9933-BEE2-617D-1CAA-FD6C70A77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6245381" y="5690420"/>
            <a:ext cx="280735" cy="42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E77D1275-D84B-A61B-9F1B-B1EEFABCE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4" y="0"/>
            <a:ext cx="12134112" cy="685800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151164E7-DC63-F123-41E1-7F3B5842D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329" y="3330678"/>
            <a:ext cx="274388" cy="40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41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D04FE7A2-2B5A-E6F9-13BF-005EC728A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9"/>
            <a:ext cx="12192000" cy="684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01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98957250-A34D-DF03-E20C-36BC13EBB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0" y="0"/>
            <a:ext cx="12140640" cy="68580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BAD26341-C794-E574-052F-139DEE4CD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754" y="4136924"/>
            <a:ext cx="274388" cy="40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5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3947B946-A5AC-22B8-9EEA-29EC6F73C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" y="0"/>
            <a:ext cx="12181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38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E365FC2A-15C7-C628-3929-3EEE00D06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6" y="0"/>
            <a:ext cx="12131207" cy="68580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BB0B9E17-A504-FC6C-3C0C-339FFB5A7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883" y="4864511"/>
            <a:ext cx="274388" cy="405386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467BCF6E-0F56-9C0D-EFBA-BC8FB4DAAE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948" t="32975" r="31218" b="35340"/>
          <a:stretch>
            <a:fillRect/>
          </a:stretch>
        </p:blipFill>
        <p:spPr>
          <a:xfrm>
            <a:off x="2979172" y="58988"/>
            <a:ext cx="2408904" cy="217292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57DA13B-E055-30D2-D8AA-AA88B28F3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225" y="2440860"/>
            <a:ext cx="274388" cy="40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17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4AB74BBA-6BF5-8D13-EA4C-5194ED09F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8" y="0"/>
            <a:ext cx="121239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5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C517ECE9-3E32-ECA2-16CA-85DED770D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8" y="0"/>
            <a:ext cx="12114544" cy="68580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212BEEDD-65B3-598E-F916-E1A757C82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393" y="3023614"/>
            <a:ext cx="274388" cy="40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1862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386</Words>
  <Application>Microsoft Office PowerPoint</Application>
  <PresentationFormat>מסך רחב</PresentationFormat>
  <Paragraphs>19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רונית בלהה אהרוני</dc:creator>
  <cp:lastModifiedBy>רונית בלהה אהרוני</cp:lastModifiedBy>
  <cp:revision>2</cp:revision>
  <dcterms:created xsi:type="dcterms:W3CDTF">2026-04-14T14:45:34Z</dcterms:created>
  <dcterms:modified xsi:type="dcterms:W3CDTF">2026-04-14T19:26:07Z</dcterms:modified>
</cp:coreProperties>
</file>